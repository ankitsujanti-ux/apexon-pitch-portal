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1874520"/>
            <a:ext cx="10515600" cy="292608"/>
          </a:xfrm>
          <a:prstGeom prst="rect">
            <a:avLst/>
          </a:prstGeom>
          <a:noFill/>
          <a:ln/>
        </p:spPr>
        <p:txBody>
          <a:bodyPr wrap="square" rtlCol="0" anchor="ctr"/>
          <a:lstStyle/>
          <a:p>
            <a:pPr indent="0" marL="0">
              <a:buNone/>
            </a:pPr>
            <a:r>
              <a:rPr lang="en-US" sz="1200" b="1" dirty="0">
                <a:solidFill>
                  <a:srgbClr val="E54A24"/>
                </a:solidFill>
                <a:latin typeface="Arial" pitchFamily="34" charset="0"/>
                <a:ea typeface="Arial" pitchFamily="34" charset="-122"/>
                <a:cs typeface="Arial" pitchFamily="34" charset="-120"/>
              </a:rPr>
              <a:t>APEXON  |  SOLUTIONING PITCH</a:t>
            </a:r>
            <a:endParaRPr lang="en-US" sz="1200" dirty="0"/>
          </a:p>
        </p:txBody>
      </p:sp>
      <p:sp>
        <p:nvSpPr>
          <p:cNvPr id="7" name="Text 5"/>
          <p:cNvSpPr/>
          <p:nvPr/>
        </p:nvSpPr>
        <p:spPr>
          <a:xfrm>
            <a:off x="457200" y="2240280"/>
            <a:ext cx="11155680" cy="9144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Guittard</a:t>
            </a:r>
            <a:endParaRPr lang="en-US" sz="3600" dirty="0"/>
          </a:p>
        </p:txBody>
      </p:sp>
      <p:sp>
        <p:nvSpPr>
          <p:cNvPr id="8" name="Text 6"/>
          <p:cNvSpPr/>
          <p:nvPr/>
        </p:nvSpPr>
        <p:spPr>
          <a:xfrm>
            <a:off x="457200" y="3200400"/>
            <a:ext cx="11155680" cy="365760"/>
          </a:xfrm>
          <a:prstGeom prst="rect">
            <a:avLst/>
          </a:prstGeom>
          <a:noFill/>
          <a:ln/>
        </p:spPr>
        <p:txBody>
          <a:bodyPr wrap="square" rtlCol="0" anchor="ctr"/>
          <a:lstStyle/>
          <a:p>
            <a:pPr indent="0" marL="0">
              <a:buNone/>
            </a:pPr>
            <a:r>
              <a:rPr lang="en-US" sz="1800" dirty="0">
                <a:solidFill>
                  <a:srgbClr val="8EC8FF"/>
                </a:solidFill>
                <a:latin typeface="Helvetica" pitchFamily="34" charset="0"/>
                <a:ea typeface="Helvetica" pitchFamily="34" charset="-122"/>
                <a:cs typeface="Helvetica" pitchFamily="34" charset="-120"/>
              </a:rPr>
              <a:t>Food and Beverage Manufacturing  |  Harness-governed Fabric and AI</a:t>
            </a:r>
            <a:endParaRPr lang="en-US" sz="1800" dirty="0"/>
          </a:p>
        </p:txBody>
      </p:sp>
      <p:sp>
        <p:nvSpPr>
          <p:cNvPr id="9" name="Text 7"/>
          <p:cNvSpPr/>
          <p:nvPr/>
        </p:nvSpPr>
        <p:spPr>
          <a:xfrm>
            <a:off x="457200" y="3749040"/>
            <a:ext cx="10424160" cy="1005840"/>
          </a:xfrm>
          <a:prstGeom prst="rect">
            <a:avLst/>
          </a:prstGeom>
          <a:noFill/>
          <a:ln/>
        </p:spPr>
        <p:txBody>
          <a:bodyPr wrap="square" rtlCol="0" anchor="ctr"/>
          <a:lstStyle/>
          <a:p>
            <a:pPr indent="0" marL="0">
              <a:buNone/>
            </a:pPr>
            <a:r>
              <a:rPr lang="en-US" sz="1500" dirty="0">
                <a:solidFill>
                  <a:srgbClr val="D7DEEA"/>
                </a:solidFill>
                <a:latin typeface="Helvetica" pitchFamily="34" charset="0"/>
                <a:ea typeface="Helvetica" pitchFamily="34" charset="-122"/>
                <a:cs typeface="Helvetica" pitchFamily="34" charset="-120"/>
              </a:rPr>
              <a:t>Build a Microsoft Fabric and Real-Time Intelligence platform with Azure AI Foundry for live chocolate production, quality holds, and demand visibility.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56032"/>
            <a:ext cx="11155680" cy="41148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About Guittard</a:t>
            </a:r>
            <a:endParaRPr lang="en-US" sz="2200" dirty="0"/>
          </a:p>
        </p:txBody>
      </p:sp>
      <p:sp>
        <p:nvSpPr>
          <p:cNvPr id="7" name="Shape 5"/>
          <p:cNvSpPr/>
          <p:nvPr/>
        </p:nvSpPr>
        <p:spPr>
          <a:xfrm>
            <a:off x="457200" y="822960"/>
            <a:ext cx="5509260" cy="3520440"/>
          </a:xfrm>
          <a:prstGeom prst="roundRect">
            <a:avLst>
              <a:gd name="adj" fmla="val 2078"/>
            </a:avLst>
          </a:prstGeom>
          <a:solidFill>
            <a:srgbClr val="0F2043"/>
          </a:solidFill>
          <a:ln w="12700">
            <a:solidFill>
              <a:srgbClr val="1D6EE4"/>
            </a:solidFill>
            <a:prstDash val="solid"/>
          </a:ln>
        </p:spPr>
      </p:sp>
      <p:sp>
        <p:nvSpPr>
          <p:cNvPr id="8" name="Text 6"/>
          <p:cNvSpPr/>
          <p:nvPr/>
        </p:nvSpPr>
        <p:spPr>
          <a:xfrm>
            <a:off x="676656" y="987552"/>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COMPANY</a:t>
            </a:r>
            <a:endParaRPr lang="en-US" sz="1000" dirty="0"/>
          </a:p>
        </p:txBody>
      </p:sp>
      <p:sp>
        <p:nvSpPr>
          <p:cNvPr id="9" name="Text 7"/>
          <p:cNvSpPr/>
          <p:nvPr/>
        </p:nvSpPr>
        <p:spPr>
          <a:xfrm>
            <a:off x="676656" y="1225296"/>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How they operate</a:t>
            </a:r>
            <a:endParaRPr lang="en-US" sz="1300" dirty="0"/>
          </a:p>
        </p:txBody>
      </p:sp>
      <p:sp>
        <p:nvSpPr>
          <p:cNvPr id="10" name="Text 8"/>
          <p:cNvSpPr/>
          <p:nvPr/>
        </p:nvSpPr>
        <p:spPr>
          <a:xfrm>
            <a:off x="676656" y="1554480"/>
            <a:ext cx="5070348" cy="264261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Guittard is a heritage chocolate manufacturer that sources cacao, roasts and processes beans, and manufactures couverture, chips, wafers, baking bars, and cocoa products for professional bakeries, confectioners, foodservice, industrial customers, and retail. Operations run from incoming lot intake and sampling through roasting, grinding, refining or conching, tempering, molding, packaging, and finished-goods release, with frequent recipe and allergen changeovers. Typical systems include ERP for orders and inventory, MES or a production historian for roast and line events, LIMS or quality systems for holds and lab results, WMS for finished goods, and supplier portals for cacao lots. The data already exists: batch genealogy, temperatures, viscosity checks, allergen labels, and customer orders. It is rarely in one place in time to act. FDA, FSMA, HACCP, allergen labeling, and customer...</a:t>
            </a:r>
            <a:endParaRPr lang="en-US" sz="1300" dirty="0"/>
          </a:p>
        </p:txBody>
      </p:sp>
      <p:sp>
        <p:nvSpPr>
          <p:cNvPr id="11" name="Shape 9"/>
          <p:cNvSpPr/>
          <p:nvPr/>
        </p:nvSpPr>
        <p:spPr>
          <a:xfrm>
            <a:off x="6222492" y="822960"/>
            <a:ext cx="5509260" cy="3520440"/>
          </a:xfrm>
          <a:prstGeom prst="roundRect">
            <a:avLst>
              <a:gd name="adj" fmla="val 2078"/>
            </a:avLst>
          </a:prstGeom>
          <a:solidFill>
            <a:srgbClr val="0F2043"/>
          </a:solidFill>
          <a:ln w="12700">
            <a:solidFill>
              <a:srgbClr val="1D6EE4"/>
            </a:solidFill>
            <a:prstDash val="solid"/>
          </a:ln>
        </p:spPr>
      </p:sp>
      <p:sp>
        <p:nvSpPr>
          <p:cNvPr id="12" name="Text 10"/>
          <p:cNvSpPr/>
          <p:nvPr/>
        </p:nvSpPr>
        <p:spPr>
          <a:xfrm>
            <a:off x="6441948" y="987552"/>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FOOD AND BEVERAGE MANUFACTURING</a:t>
            </a:r>
            <a:endParaRPr lang="en-US" sz="1000" dirty="0"/>
          </a:p>
        </p:txBody>
      </p:sp>
      <p:sp>
        <p:nvSpPr>
          <p:cNvPr id="13" name="Text 11"/>
          <p:cNvSpPr/>
          <p:nvPr/>
        </p:nvSpPr>
        <p:spPr>
          <a:xfrm>
            <a:off x="6441948" y="1225296"/>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Data, systems, compliance</a:t>
            </a:r>
            <a:endParaRPr lang="en-US" sz="1300" dirty="0"/>
          </a:p>
        </p:txBody>
      </p:sp>
      <p:sp>
        <p:nvSpPr>
          <p:cNvPr id="14" name="Text 12"/>
          <p:cNvSpPr/>
          <p:nvPr/>
        </p:nvSpPr>
        <p:spPr>
          <a:xfrm>
            <a:off x="6441948" y="1554480"/>
            <a:ext cx="5070348" cy="264261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 </a:t>
            </a:r>
            <a:endParaRPr lang="en-US" sz="1300" dirty="0"/>
          </a:p>
        </p:txBody>
      </p:sp>
      <p:sp>
        <p:nvSpPr>
          <p:cNvPr id="15" name="Shape 13"/>
          <p:cNvSpPr/>
          <p:nvPr/>
        </p:nvSpPr>
        <p:spPr>
          <a:xfrm>
            <a:off x="457200" y="4480560"/>
            <a:ext cx="11274552" cy="1554480"/>
          </a:xfrm>
          <a:prstGeom prst="roundRect">
            <a:avLst>
              <a:gd name="adj" fmla="val 4706"/>
            </a:avLst>
          </a:prstGeom>
          <a:solidFill>
            <a:srgbClr val="0F2043"/>
          </a:solidFill>
          <a:ln w="12700">
            <a:solidFill>
              <a:srgbClr val="1D6EE4"/>
            </a:solidFill>
            <a:prstDash val="solid"/>
          </a:ln>
        </p:spPr>
      </p:sp>
      <p:sp>
        <p:nvSpPr>
          <p:cNvPr id="16" name="Text 14"/>
          <p:cNvSpPr/>
          <p:nvPr/>
        </p:nvSpPr>
        <p:spPr>
          <a:xfrm>
            <a:off x="676656" y="4645152"/>
            <a:ext cx="10835640"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REQUIREMENT</a:t>
            </a:r>
            <a:endParaRPr lang="en-US" sz="1000" dirty="0"/>
          </a:p>
        </p:txBody>
      </p:sp>
      <p:sp>
        <p:nvSpPr>
          <p:cNvPr id="17" name="Text 15"/>
          <p:cNvSpPr/>
          <p:nvPr/>
        </p:nvSpPr>
        <p:spPr>
          <a:xfrm>
            <a:off x="676656" y="4882896"/>
            <a:ext cx="10835640"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What we are here to solve</a:t>
            </a:r>
            <a:endParaRPr lang="en-US" sz="1300" dirty="0"/>
          </a:p>
        </p:txBody>
      </p:sp>
      <p:sp>
        <p:nvSpPr>
          <p:cNvPr id="18" name="Text 16"/>
          <p:cNvSpPr/>
          <p:nvPr/>
        </p:nvSpPr>
        <p:spPr>
          <a:xfrm>
            <a:off x="676656" y="5212080"/>
            <a:ext cx="10835640" cy="67665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Build a Microsoft Fabric and Real-Time Intelligence platform with Azure AI Foundry for live chocolate production, quality holds, and demand visibility.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01168"/>
            <a:ext cx="1115568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Live roast-to-conche quality control</a:t>
            </a:r>
            <a:endParaRPr lang="en-US" sz="1800" dirty="0"/>
          </a:p>
        </p:txBody>
      </p:sp>
      <p:sp>
        <p:nvSpPr>
          <p:cNvPr id="7" name="Text 5"/>
          <p:cNvSpPr/>
          <p:nvPr/>
        </p:nvSpPr>
        <p:spPr>
          <a:xfrm>
            <a:off x="457200" y="841248"/>
            <a:ext cx="3657600" cy="219456"/>
          </a:xfrm>
          <a:prstGeom prst="rect">
            <a:avLst/>
          </a:prstGeom>
          <a:noFill/>
          <a:ln/>
        </p:spPr>
        <p:txBody>
          <a:bodyPr wrap="square" rtlCol="0" anchor="ctr"/>
          <a:lstStyle/>
          <a:p>
            <a:pPr indent="0" marL="0">
              <a:buNone/>
            </a:pPr>
            <a:r>
              <a:rPr lang="en-US" sz="1100" dirty="0">
                <a:solidFill>
                  <a:srgbClr val="8EC8FF"/>
                </a:solidFill>
                <a:latin typeface="Helvetica" pitchFamily="34" charset="0"/>
                <a:ea typeface="Helvetica" pitchFamily="34" charset="-122"/>
                <a:cs typeface="Helvetica" pitchFamily="34" charset="-120"/>
              </a:rPr>
              <a:t>Use case 1 of 5</a:t>
            </a:r>
            <a:endParaRPr lang="en-US" sz="1100" dirty="0"/>
          </a:p>
        </p:txBody>
      </p:sp>
      <p:sp>
        <p:nvSpPr>
          <p:cNvPr id="8" name="Shape 6"/>
          <p:cNvSpPr/>
          <p:nvPr/>
        </p:nvSpPr>
        <p:spPr>
          <a:xfrm>
            <a:off x="457200" y="1170432"/>
            <a:ext cx="5509260" cy="2331720"/>
          </a:xfrm>
          <a:prstGeom prst="roundRect">
            <a:avLst>
              <a:gd name="adj" fmla="val 3137"/>
            </a:avLst>
          </a:prstGeom>
          <a:solidFill>
            <a:srgbClr val="0F2043"/>
          </a:solidFill>
          <a:ln w="12700">
            <a:solidFill>
              <a:srgbClr val="1D6EE4"/>
            </a:solidFill>
            <a:prstDash val="solid"/>
          </a:ln>
        </p:spPr>
      </p:sp>
      <p:sp>
        <p:nvSpPr>
          <p:cNvPr id="9" name="Text 7"/>
          <p:cNvSpPr/>
          <p:nvPr/>
        </p:nvSpPr>
        <p:spPr>
          <a:xfrm>
            <a:off x="676656"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PROBLEM</a:t>
            </a:r>
            <a:endParaRPr lang="en-US" sz="1000" dirty="0"/>
          </a:p>
        </p:txBody>
      </p:sp>
      <p:sp>
        <p:nvSpPr>
          <p:cNvPr id="10" name="Text 8"/>
          <p:cNvSpPr/>
          <p:nvPr/>
        </p:nvSpPr>
        <p:spPr>
          <a:xfrm>
            <a:off x="676656"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What is slowing them down</a:t>
            </a:r>
            <a:endParaRPr lang="en-US" sz="1300" dirty="0"/>
          </a:p>
        </p:txBody>
      </p:sp>
      <p:sp>
        <p:nvSpPr>
          <p:cNvPr id="11" name="Text 9"/>
          <p:cNvSpPr/>
          <p:nvPr/>
        </p:nvSpPr>
        <p:spPr>
          <a:xfrm>
            <a:off x="676656"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Small shifts in roast profile, grind, or conche time can create flavor and viscosity drift. If QC finds the problem after packaging, Guittard risks rework, scrap, and inconsistent couverture for bakery customers.</a:t>
            </a:r>
            <a:endParaRPr lang="en-US" sz="1300" dirty="0"/>
          </a:p>
        </p:txBody>
      </p:sp>
      <p:sp>
        <p:nvSpPr>
          <p:cNvPr id="12" name="Shape 10"/>
          <p:cNvSpPr/>
          <p:nvPr/>
        </p:nvSpPr>
        <p:spPr>
          <a:xfrm>
            <a:off x="6222492" y="1170432"/>
            <a:ext cx="5509260" cy="2331720"/>
          </a:xfrm>
          <a:prstGeom prst="roundRect">
            <a:avLst>
              <a:gd name="adj" fmla="val 3137"/>
            </a:avLst>
          </a:prstGeom>
          <a:solidFill>
            <a:srgbClr val="0F2043"/>
          </a:solidFill>
          <a:ln w="12700">
            <a:solidFill>
              <a:srgbClr val="1D6EE4"/>
            </a:solidFill>
            <a:prstDash val="solid"/>
          </a:ln>
        </p:spPr>
      </p:sp>
      <p:sp>
        <p:nvSpPr>
          <p:cNvPr id="13" name="Text 11"/>
          <p:cNvSpPr/>
          <p:nvPr/>
        </p:nvSpPr>
        <p:spPr>
          <a:xfrm>
            <a:off x="6441948"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SOLUTION</a:t>
            </a:r>
            <a:endParaRPr lang="en-US" sz="1000" dirty="0"/>
          </a:p>
        </p:txBody>
      </p:sp>
      <p:sp>
        <p:nvSpPr>
          <p:cNvPr id="14" name="Text 12"/>
          <p:cNvSpPr/>
          <p:nvPr/>
        </p:nvSpPr>
        <p:spPr>
          <a:xfrm>
            <a:off x="6441948"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How Fabric and Foundry help</a:t>
            </a:r>
            <a:endParaRPr lang="en-US" sz="1300" dirty="0"/>
          </a:p>
        </p:txBody>
      </p:sp>
      <p:sp>
        <p:nvSpPr>
          <p:cNvPr id="15" name="Text 13"/>
          <p:cNvSpPr/>
          <p:nvPr/>
        </p:nvSpPr>
        <p:spPr>
          <a:xfrm>
            <a:off x="6441948"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Real-Time Intelligence on Fabric streams roast, moisture, and viscosity signals so the team can stop an off-spec lot before it is committed. A Foundry agent explains the likely cause in plain language.</a:t>
            </a:r>
            <a:endParaRPr lang="en-US" sz="1300" dirty="0"/>
          </a:p>
        </p:txBody>
      </p:sp>
      <p:sp>
        <p:nvSpPr>
          <p:cNvPr id="16" name="Shape 14"/>
          <p:cNvSpPr/>
          <p:nvPr/>
        </p:nvSpPr>
        <p:spPr>
          <a:xfrm>
            <a:off x="457200" y="3657600"/>
            <a:ext cx="11274552" cy="2331720"/>
          </a:xfrm>
          <a:prstGeom prst="roundRect">
            <a:avLst>
              <a:gd name="adj" fmla="val 3137"/>
            </a:avLst>
          </a:prstGeom>
          <a:solidFill>
            <a:srgbClr val="0F2043"/>
          </a:solidFill>
          <a:ln w="12700">
            <a:solidFill>
              <a:srgbClr val="1D6EE4"/>
            </a:solidFill>
            <a:prstDash val="solid"/>
          </a:ln>
        </p:spPr>
      </p:sp>
      <p:sp>
        <p:nvSpPr>
          <p:cNvPr id="17" name="Text 15"/>
          <p:cNvSpPr/>
          <p:nvPr/>
        </p:nvSpPr>
        <p:spPr>
          <a:xfrm>
            <a:off x="676656" y="3822192"/>
            <a:ext cx="10835640"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LIKELY ALREADY EXISTS</a:t>
            </a:r>
            <a:endParaRPr lang="en-US" sz="1000" dirty="0"/>
          </a:p>
        </p:txBody>
      </p:sp>
      <p:sp>
        <p:nvSpPr>
          <p:cNvPr id="18" name="Text 16"/>
          <p:cNvSpPr/>
          <p:nvPr/>
        </p:nvSpPr>
        <p:spPr>
          <a:xfrm>
            <a:off x="676656" y="4059936"/>
            <a:ext cx="10835640"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Data and technology</a:t>
            </a:r>
            <a:endParaRPr lang="en-US" sz="1300" dirty="0"/>
          </a:p>
        </p:txBody>
      </p:sp>
      <p:sp>
        <p:nvSpPr>
          <p:cNvPr id="19" name="Text 17"/>
          <p:cNvSpPr/>
          <p:nvPr/>
        </p:nvSpPr>
        <p:spPr>
          <a:xfrm>
            <a:off x="676656" y="4389120"/>
            <a:ext cx="10835640"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MES/historian roast curves, LIMS viscosity and moisture, batch records Microsoft Fabric | Real-Time Intelligence | Azure AI Foundry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01168"/>
            <a:ext cx="1115568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Quality holds command center</a:t>
            </a:r>
            <a:endParaRPr lang="en-US" sz="1800" dirty="0"/>
          </a:p>
        </p:txBody>
      </p:sp>
      <p:sp>
        <p:nvSpPr>
          <p:cNvPr id="7" name="Text 5"/>
          <p:cNvSpPr/>
          <p:nvPr/>
        </p:nvSpPr>
        <p:spPr>
          <a:xfrm>
            <a:off x="457200" y="841248"/>
            <a:ext cx="3657600" cy="219456"/>
          </a:xfrm>
          <a:prstGeom prst="rect">
            <a:avLst/>
          </a:prstGeom>
          <a:noFill/>
          <a:ln/>
        </p:spPr>
        <p:txBody>
          <a:bodyPr wrap="square" rtlCol="0" anchor="ctr"/>
          <a:lstStyle/>
          <a:p>
            <a:pPr indent="0" marL="0">
              <a:buNone/>
            </a:pPr>
            <a:r>
              <a:rPr lang="en-US" sz="1100" dirty="0">
                <a:solidFill>
                  <a:srgbClr val="8EC8FF"/>
                </a:solidFill>
                <a:latin typeface="Helvetica" pitchFamily="34" charset="0"/>
                <a:ea typeface="Helvetica" pitchFamily="34" charset="-122"/>
                <a:cs typeface="Helvetica" pitchFamily="34" charset="-120"/>
              </a:rPr>
              <a:t>Use case 2 of 5</a:t>
            </a:r>
            <a:endParaRPr lang="en-US" sz="1100" dirty="0"/>
          </a:p>
        </p:txBody>
      </p:sp>
      <p:sp>
        <p:nvSpPr>
          <p:cNvPr id="8" name="Shape 6"/>
          <p:cNvSpPr/>
          <p:nvPr/>
        </p:nvSpPr>
        <p:spPr>
          <a:xfrm>
            <a:off x="457200" y="1170432"/>
            <a:ext cx="5509260" cy="2331720"/>
          </a:xfrm>
          <a:prstGeom prst="roundRect">
            <a:avLst>
              <a:gd name="adj" fmla="val 3137"/>
            </a:avLst>
          </a:prstGeom>
          <a:solidFill>
            <a:srgbClr val="0F2043"/>
          </a:solidFill>
          <a:ln w="12700">
            <a:solidFill>
              <a:srgbClr val="1D6EE4"/>
            </a:solidFill>
            <a:prstDash val="solid"/>
          </a:ln>
        </p:spPr>
      </p:sp>
      <p:sp>
        <p:nvSpPr>
          <p:cNvPr id="9" name="Text 7"/>
          <p:cNvSpPr/>
          <p:nvPr/>
        </p:nvSpPr>
        <p:spPr>
          <a:xfrm>
            <a:off x="676656"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PROBLEM</a:t>
            </a:r>
            <a:endParaRPr lang="en-US" sz="1000" dirty="0"/>
          </a:p>
        </p:txBody>
      </p:sp>
      <p:sp>
        <p:nvSpPr>
          <p:cNvPr id="10" name="Text 8"/>
          <p:cNvSpPr/>
          <p:nvPr/>
        </p:nvSpPr>
        <p:spPr>
          <a:xfrm>
            <a:off x="676656"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What is slowing them down</a:t>
            </a:r>
            <a:endParaRPr lang="en-US" sz="1300" dirty="0"/>
          </a:p>
        </p:txBody>
      </p:sp>
      <p:sp>
        <p:nvSpPr>
          <p:cNvPr id="11" name="Text 9"/>
          <p:cNvSpPr/>
          <p:nvPr/>
        </p:nvSpPr>
        <p:spPr>
          <a:xfrm>
            <a:off x="676656"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When a cacao or finished lot is held, teams lose time chasing lab results, genealogy, and where the lot has moved. Slow disposition starves packaging and raises traceability risk.</a:t>
            </a:r>
            <a:endParaRPr lang="en-US" sz="1300" dirty="0"/>
          </a:p>
        </p:txBody>
      </p:sp>
      <p:sp>
        <p:nvSpPr>
          <p:cNvPr id="12" name="Shape 10"/>
          <p:cNvSpPr/>
          <p:nvPr/>
        </p:nvSpPr>
        <p:spPr>
          <a:xfrm>
            <a:off x="6222492" y="1170432"/>
            <a:ext cx="5509260" cy="2331720"/>
          </a:xfrm>
          <a:prstGeom prst="roundRect">
            <a:avLst>
              <a:gd name="adj" fmla="val 3137"/>
            </a:avLst>
          </a:prstGeom>
          <a:solidFill>
            <a:srgbClr val="0F2043"/>
          </a:solidFill>
          <a:ln w="12700">
            <a:solidFill>
              <a:srgbClr val="1D6EE4"/>
            </a:solidFill>
            <a:prstDash val="solid"/>
          </a:ln>
        </p:spPr>
      </p:sp>
      <p:sp>
        <p:nvSpPr>
          <p:cNvPr id="13" name="Text 11"/>
          <p:cNvSpPr/>
          <p:nvPr/>
        </p:nvSpPr>
        <p:spPr>
          <a:xfrm>
            <a:off x="6441948"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SOLUTION</a:t>
            </a:r>
            <a:endParaRPr lang="en-US" sz="1000" dirty="0"/>
          </a:p>
        </p:txBody>
      </p:sp>
      <p:sp>
        <p:nvSpPr>
          <p:cNvPr id="14" name="Text 12"/>
          <p:cNvSpPr/>
          <p:nvPr/>
        </p:nvSpPr>
        <p:spPr>
          <a:xfrm>
            <a:off x="6441948"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How Fabric and Foundry help</a:t>
            </a:r>
            <a:endParaRPr lang="en-US" sz="1300" dirty="0"/>
          </a:p>
        </p:txBody>
      </p:sp>
      <p:sp>
        <p:nvSpPr>
          <p:cNvPr id="15" name="Text 13"/>
          <p:cNvSpPr/>
          <p:nvPr/>
        </p:nvSpPr>
        <p:spPr>
          <a:xfrm>
            <a:off x="6441948"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A live holds board on Fabric joins LIMS, genealogy, and warehouse location so quality can release or rework with a documented trail.</a:t>
            </a:r>
            <a:endParaRPr lang="en-US" sz="1300" dirty="0"/>
          </a:p>
        </p:txBody>
      </p:sp>
      <p:sp>
        <p:nvSpPr>
          <p:cNvPr id="16" name="Shape 14"/>
          <p:cNvSpPr/>
          <p:nvPr/>
        </p:nvSpPr>
        <p:spPr>
          <a:xfrm>
            <a:off x="457200" y="3657600"/>
            <a:ext cx="11274552" cy="2331720"/>
          </a:xfrm>
          <a:prstGeom prst="roundRect">
            <a:avLst>
              <a:gd name="adj" fmla="val 3137"/>
            </a:avLst>
          </a:prstGeom>
          <a:solidFill>
            <a:srgbClr val="0F2043"/>
          </a:solidFill>
          <a:ln w="12700">
            <a:solidFill>
              <a:srgbClr val="1D6EE4"/>
            </a:solidFill>
            <a:prstDash val="solid"/>
          </a:ln>
        </p:spPr>
      </p:sp>
      <p:sp>
        <p:nvSpPr>
          <p:cNvPr id="17" name="Text 15"/>
          <p:cNvSpPr/>
          <p:nvPr/>
        </p:nvSpPr>
        <p:spPr>
          <a:xfrm>
            <a:off x="676656" y="3822192"/>
            <a:ext cx="10835640"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LIKELY ALREADY EXISTS</a:t>
            </a:r>
            <a:endParaRPr lang="en-US" sz="1000" dirty="0"/>
          </a:p>
        </p:txBody>
      </p:sp>
      <p:sp>
        <p:nvSpPr>
          <p:cNvPr id="18" name="Text 16"/>
          <p:cNvSpPr/>
          <p:nvPr/>
        </p:nvSpPr>
        <p:spPr>
          <a:xfrm>
            <a:off x="676656" y="4059936"/>
            <a:ext cx="10835640"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Data and technology</a:t>
            </a:r>
            <a:endParaRPr lang="en-US" sz="1300" dirty="0"/>
          </a:p>
        </p:txBody>
      </p:sp>
      <p:sp>
        <p:nvSpPr>
          <p:cNvPr id="19" name="Text 17"/>
          <p:cNvSpPr/>
          <p:nvPr/>
        </p:nvSpPr>
        <p:spPr>
          <a:xfrm>
            <a:off x="676656" y="4389120"/>
            <a:ext cx="10835640"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LIMS holds, lot genealogy, WMS location Microsoft Fabric | OneLake | Azure AI Foundry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01168"/>
            <a:ext cx="1115568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Allergen and labeling escape prevention</a:t>
            </a:r>
            <a:endParaRPr lang="en-US" sz="1800" dirty="0"/>
          </a:p>
        </p:txBody>
      </p:sp>
      <p:sp>
        <p:nvSpPr>
          <p:cNvPr id="7" name="Text 5"/>
          <p:cNvSpPr/>
          <p:nvPr/>
        </p:nvSpPr>
        <p:spPr>
          <a:xfrm>
            <a:off x="457200" y="841248"/>
            <a:ext cx="3657600" cy="219456"/>
          </a:xfrm>
          <a:prstGeom prst="rect">
            <a:avLst/>
          </a:prstGeom>
          <a:noFill/>
          <a:ln/>
        </p:spPr>
        <p:txBody>
          <a:bodyPr wrap="square" rtlCol="0" anchor="ctr"/>
          <a:lstStyle/>
          <a:p>
            <a:pPr indent="0" marL="0">
              <a:buNone/>
            </a:pPr>
            <a:r>
              <a:rPr lang="en-US" sz="1100" dirty="0">
                <a:solidFill>
                  <a:srgbClr val="8EC8FF"/>
                </a:solidFill>
                <a:latin typeface="Helvetica" pitchFamily="34" charset="0"/>
                <a:ea typeface="Helvetica" pitchFamily="34" charset="-122"/>
                <a:cs typeface="Helvetica" pitchFamily="34" charset="-120"/>
              </a:rPr>
              <a:t>Use case 3 of 5</a:t>
            </a:r>
            <a:endParaRPr lang="en-US" sz="1100" dirty="0"/>
          </a:p>
        </p:txBody>
      </p:sp>
      <p:sp>
        <p:nvSpPr>
          <p:cNvPr id="8" name="Shape 6"/>
          <p:cNvSpPr/>
          <p:nvPr/>
        </p:nvSpPr>
        <p:spPr>
          <a:xfrm>
            <a:off x="457200" y="1170432"/>
            <a:ext cx="5509260" cy="2331720"/>
          </a:xfrm>
          <a:prstGeom prst="roundRect">
            <a:avLst>
              <a:gd name="adj" fmla="val 3137"/>
            </a:avLst>
          </a:prstGeom>
          <a:solidFill>
            <a:srgbClr val="0F2043"/>
          </a:solidFill>
          <a:ln w="12700">
            <a:solidFill>
              <a:srgbClr val="1D6EE4"/>
            </a:solidFill>
            <a:prstDash val="solid"/>
          </a:ln>
        </p:spPr>
      </p:sp>
      <p:sp>
        <p:nvSpPr>
          <p:cNvPr id="9" name="Text 7"/>
          <p:cNvSpPr/>
          <p:nvPr/>
        </p:nvSpPr>
        <p:spPr>
          <a:xfrm>
            <a:off x="676656"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PROBLEM</a:t>
            </a:r>
            <a:endParaRPr lang="en-US" sz="1000" dirty="0"/>
          </a:p>
        </p:txBody>
      </p:sp>
      <p:sp>
        <p:nvSpPr>
          <p:cNvPr id="10" name="Text 8"/>
          <p:cNvSpPr/>
          <p:nvPr/>
        </p:nvSpPr>
        <p:spPr>
          <a:xfrm>
            <a:off x="676656"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What is slowing them down</a:t>
            </a:r>
            <a:endParaRPr lang="en-US" sz="1300" dirty="0"/>
          </a:p>
        </p:txBody>
      </p:sp>
      <p:sp>
        <p:nvSpPr>
          <p:cNvPr id="11" name="Text 9"/>
          <p:cNvSpPr/>
          <p:nvPr/>
        </p:nvSpPr>
        <p:spPr>
          <a:xfrm>
            <a:off x="676656"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Milk versus dark changeovers create real allergen and mislabel risk. A single escape can trigger a recall and lose customer trust.</a:t>
            </a:r>
            <a:endParaRPr lang="en-US" sz="1300" dirty="0"/>
          </a:p>
        </p:txBody>
      </p:sp>
      <p:sp>
        <p:nvSpPr>
          <p:cNvPr id="12" name="Shape 10"/>
          <p:cNvSpPr/>
          <p:nvPr/>
        </p:nvSpPr>
        <p:spPr>
          <a:xfrm>
            <a:off x="6222492" y="1170432"/>
            <a:ext cx="5509260" cy="2331720"/>
          </a:xfrm>
          <a:prstGeom prst="roundRect">
            <a:avLst>
              <a:gd name="adj" fmla="val 3137"/>
            </a:avLst>
          </a:prstGeom>
          <a:solidFill>
            <a:srgbClr val="0F2043"/>
          </a:solidFill>
          <a:ln w="12700">
            <a:solidFill>
              <a:srgbClr val="1D6EE4"/>
            </a:solidFill>
            <a:prstDash val="solid"/>
          </a:ln>
        </p:spPr>
      </p:sp>
      <p:sp>
        <p:nvSpPr>
          <p:cNvPr id="13" name="Text 11"/>
          <p:cNvSpPr/>
          <p:nvPr/>
        </p:nvSpPr>
        <p:spPr>
          <a:xfrm>
            <a:off x="6441948"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SOLUTION</a:t>
            </a:r>
            <a:endParaRPr lang="en-US" sz="1000" dirty="0"/>
          </a:p>
        </p:txBody>
      </p:sp>
      <p:sp>
        <p:nvSpPr>
          <p:cNvPr id="14" name="Text 12"/>
          <p:cNvSpPr/>
          <p:nvPr/>
        </p:nvSpPr>
        <p:spPr>
          <a:xfrm>
            <a:off x="6441948"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How Fabric and Foundry help</a:t>
            </a:r>
            <a:endParaRPr lang="en-US" sz="1300" dirty="0"/>
          </a:p>
        </p:txBody>
      </p:sp>
      <p:sp>
        <p:nvSpPr>
          <p:cNvPr id="15" name="Text 13"/>
          <p:cNvSpPr/>
          <p:nvPr/>
        </p:nvSpPr>
        <p:spPr>
          <a:xfrm>
            <a:off x="6441948"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Streaming changeover events and label checks flag mismatches as they happen and route them to the line owner before product ships.</a:t>
            </a:r>
            <a:endParaRPr lang="en-US" sz="1300" dirty="0"/>
          </a:p>
        </p:txBody>
      </p:sp>
      <p:sp>
        <p:nvSpPr>
          <p:cNvPr id="16" name="Shape 14"/>
          <p:cNvSpPr/>
          <p:nvPr/>
        </p:nvSpPr>
        <p:spPr>
          <a:xfrm>
            <a:off x="457200" y="3657600"/>
            <a:ext cx="11274552" cy="2331720"/>
          </a:xfrm>
          <a:prstGeom prst="roundRect">
            <a:avLst>
              <a:gd name="adj" fmla="val 3137"/>
            </a:avLst>
          </a:prstGeom>
          <a:solidFill>
            <a:srgbClr val="0F2043"/>
          </a:solidFill>
          <a:ln w="12700">
            <a:solidFill>
              <a:srgbClr val="1D6EE4"/>
            </a:solidFill>
            <a:prstDash val="solid"/>
          </a:ln>
        </p:spPr>
      </p:sp>
      <p:sp>
        <p:nvSpPr>
          <p:cNvPr id="17" name="Text 15"/>
          <p:cNvSpPr/>
          <p:nvPr/>
        </p:nvSpPr>
        <p:spPr>
          <a:xfrm>
            <a:off x="676656" y="3822192"/>
            <a:ext cx="10835640"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LIKELY ALREADY EXISTS</a:t>
            </a:r>
            <a:endParaRPr lang="en-US" sz="1000" dirty="0"/>
          </a:p>
        </p:txBody>
      </p:sp>
      <p:sp>
        <p:nvSpPr>
          <p:cNvPr id="18" name="Text 16"/>
          <p:cNvSpPr/>
          <p:nvPr/>
        </p:nvSpPr>
        <p:spPr>
          <a:xfrm>
            <a:off x="676656" y="4059936"/>
            <a:ext cx="10835640"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Data and technology</a:t>
            </a:r>
            <a:endParaRPr lang="en-US" sz="1300" dirty="0"/>
          </a:p>
        </p:txBody>
      </p:sp>
      <p:sp>
        <p:nvSpPr>
          <p:cNvPr id="19" name="Text 17"/>
          <p:cNvSpPr/>
          <p:nvPr/>
        </p:nvSpPr>
        <p:spPr>
          <a:xfrm>
            <a:off x="676656" y="4389120"/>
            <a:ext cx="10835640"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Recipe/BOM allergen flags, label verification, line changeover events Microsoft Fabric | Data Activator | Azure AI Foundry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01168"/>
            <a:ext cx="1115568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Packaging line OEE and changeover loss</a:t>
            </a:r>
            <a:endParaRPr lang="en-US" sz="1800" dirty="0"/>
          </a:p>
        </p:txBody>
      </p:sp>
      <p:sp>
        <p:nvSpPr>
          <p:cNvPr id="7" name="Text 5"/>
          <p:cNvSpPr/>
          <p:nvPr/>
        </p:nvSpPr>
        <p:spPr>
          <a:xfrm>
            <a:off x="457200" y="841248"/>
            <a:ext cx="3657600" cy="219456"/>
          </a:xfrm>
          <a:prstGeom prst="rect">
            <a:avLst/>
          </a:prstGeom>
          <a:noFill/>
          <a:ln/>
        </p:spPr>
        <p:txBody>
          <a:bodyPr wrap="square" rtlCol="0" anchor="ctr"/>
          <a:lstStyle/>
          <a:p>
            <a:pPr indent="0" marL="0">
              <a:buNone/>
            </a:pPr>
            <a:r>
              <a:rPr lang="en-US" sz="1100" dirty="0">
                <a:solidFill>
                  <a:srgbClr val="8EC8FF"/>
                </a:solidFill>
                <a:latin typeface="Helvetica" pitchFamily="34" charset="0"/>
                <a:ea typeface="Helvetica" pitchFamily="34" charset="-122"/>
                <a:cs typeface="Helvetica" pitchFamily="34" charset="-120"/>
              </a:rPr>
              <a:t>Use case 4 of 5</a:t>
            </a:r>
            <a:endParaRPr lang="en-US" sz="1100" dirty="0"/>
          </a:p>
        </p:txBody>
      </p:sp>
      <p:sp>
        <p:nvSpPr>
          <p:cNvPr id="8" name="Shape 6"/>
          <p:cNvSpPr/>
          <p:nvPr/>
        </p:nvSpPr>
        <p:spPr>
          <a:xfrm>
            <a:off x="457200" y="1170432"/>
            <a:ext cx="5509260" cy="2331720"/>
          </a:xfrm>
          <a:prstGeom prst="roundRect">
            <a:avLst>
              <a:gd name="adj" fmla="val 3137"/>
            </a:avLst>
          </a:prstGeom>
          <a:solidFill>
            <a:srgbClr val="0F2043"/>
          </a:solidFill>
          <a:ln w="12700">
            <a:solidFill>
              <a:srgbClr val="1D6EE4"/>
            </a:solidFill>
            <a:prstDash val="solid"/>
          </a:ln>
        </p:spPr>
      </p:sp>
      <p:sp>
        <p:nvSpPr>
          <p:cNvPr id="9" name="Text 7"/>
          <p:cNvSpPr/>
          <p:nvPr/>
        </p:nvSpPr>
        <p:spPr>
          <a:xfrm>
            <a:off x="676656"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PROBLEM</a:t>
            </a:r>
            <a:endParaRPr lang="en-US" sz="1000" dirty="0"/>
          </a:p>
        </p:txBody>
      </p:sp>
      <p:sp>
        <p:nvSpPr>
          <p:cNvPr id="10" name="Text 8"/>
          <p:cNvSpPr/>
          <p:nvPr/>
        </p:nvSpPr>
        <p:spPr>
          <a:xfrm>
            <a:off x="676656"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What is slowing them down</a:t>
            </a:r>
            <a:endParaRPr lang="en-US" sz="1300" dirty="0"/>
          </a:p>
        </p:txBody>
      </p:sp>
      <p:sp>
        <p:nvSpPr>
          <p:cNvPr id="11" name="Text 9"/>
          <p:cNvSpPr/>
          <p:nvPr/>
        </p:nvSpPr>
        <p:spPr>
          <a:xfrm>
            <a:off x="676656"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Depositing and packaging lines become the constraint. Micro-stops and long changeovers cascade into missed ship dates, especially when inventory is already on hold.</a:t>
            </a:r>
            <a:endParaRPr lang="en-US" sz="1300" dirty="0"/>
          </a:p>
        </p:txBody>
      </p:sp>
      <p:sp>
        <p:nvSpPr>
          <p:cNvPr id="12" name="Shape 10"/>
          <p:cNvSpPr/>
          <p:nvPr/>
        </p:nvSpPr>
        <p:spPr>
          <a:xfrm>
            <a:off x="6222492" y="1170432"/>
            <a:ext cx="5509260" cy="2331720"/>
          </a:xfrm>
          <a:prstGeom prst="roundRect">
            <a:avLst>
              <a:gd name="adj" fmla="val 3137"/>
            </a:avLst>
          </a:prstGeom>
          <a:solidFill>
            <a:srgbClr val="0F2043"/>
          </a:solidFill>
          <a:ln w="12700">
            <a:solidFill>
              <a:srgbClr val="1D6EE4"/>
            </a:solidFill>
            <a:prstDash val="solid"/>
          </a:ln>
        </p:spPr>
      </p:sp>
      <p:sp>
        <p:nvSpPr>
          <p:cNvPr id="13" name="Text 11"/>
          <p:cNvSpPr/>
          <p:nvPr/>
        </p:nvSpPr>
        <p:spPr>
          <a:xfrm>
            <a:off x="6441948"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SOLUTION</a:t>
            </a:r>
            <a:endParaRPr lang="en-US" sz="1000" dirty="0"/>
          </a:p>
        </p:txBody>
      </p:sp>
      <p:sp>
        <p:nvSpPr>
          <p:cNvPr id="14" name="Text 12"/>
          <p:cNvSpPr/>
          <p:nvPr/>
        </p:nvSpPr>
        <p:spPr>
          <a:xfrm>
            <a:off x="6441948"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How Fabric and Foundry help</a:t>
            </a:r>
            <a:endParaRPr lang="en-US" sz="1300" dirty="0"/>
          </a:p>
        </p:txBody>
      </p:sp>
      <p:sp>
        <p:nvSpPr>
          <p:cNvPr id="15" name="Text 13"/>
          <p:cNvSpPr/>
          <p:nvPr/>
        </p:nvSpPr>
        <p:spPr>
          <a:xfrm>
            <a:off x="6441948"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Fabric turns line events into a live OEE view so operations can recover the schedule the same shift.</a:t>
            </a:r>
            <a:endParaRPr lang="en-US" sz="1300" dirty="0"/>
          </a:p>
        </p:txBody>
      </p:sp>
      <p:sp>
        <p:nvSpPr>
          <p:cNvPr id="16" name="Shape 14"/>
          <p:cNvSpPr/>
          <p:nvPr/>
        </p:nvSpPr>
        <p:spPr>
          <a:xfrm>
            <a:off x="457200" y="3657600"/>
            <a:ext cx="11274552" cy="2331720"/>
          </a:xfrm>
          <a:prstGeom prst="roundRect">
            <a:avLst>
              <a:gd name="adj" fmla="val 3137"/>
            </a:avLst>
          </a:prstGeom>
          <a:solidFill>
            <a:srgbClr val="0F2043"/>
          </a:solidFill>
          <a:ln w="12700">
            <a:solidFill>
              <a:srgbClr val="1D6EE4"/>
            </a:solidFill>
            <a:prstDash val="solid"/>
          </a:ln>
        </p:spPr>
      </p:sp>
      <p:sp>
        <p:nvSpPr>
          <p:cNvPr id="17" name="Text 15"/>
          <p:cNvSpPr/>
          <p:nvPr/>
        </p:nvSpPr>
        <p:spPr>
          <a:xfrm>
            <a:off x="676656" y="3822192"/>
            <a:ext cx="10835640"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LIKELY ALREADY EXISTS</a:t>
            </a:r>
            <a:endParaRPr lang="en-US" sz="1000" dirty="0"/>
          </a:p>
        </p:txBody>
      </p:sp>
      <p:sp>
        <p:nvSpPr>
          <p:cNvPr id="18" name="Text 16"/>
          <p:cNvSpPr/>
          <p:nvPr/>
        </p:nvSpPr>
        <p:spPr>
          <a:xfrm>
            <a:off x="676656" y="4059936"/>
            <a:ext cx="10835640"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Data and technology</a:t>
            </a:r>
            <a:endParaRPr lang="en-US" sz="1300" dirty="0"/>
          </a:p>
        </p:txBody>
      </p:sp>
      <p:sp>
        <p:nvSpPr>
          <p:cNvPr id="19" name="Text 17"/>
          <p:cNvSpPr/>
          <p:nvPr/>
        </p:nvSpPr>
        <p:spPr>
          <a:xfrm>
            <a:off x="676656" y="4389120"/>
            <a:ext cx="10835640"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Line PLC/MES events, planned schedule, downtime codes Microsoft Fabric | Eventstream | Power BI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01168"/>
            <a:ext cx="11155680" cy="640080"/>
          </a:xfrm>
          <a:prstGeom prst="rect">
            <a:avLst/>
          </a:prstGeom>
          <a:noFill/>
          <a:ln/>
        </p:spPr>
        <p:txBody>
          <a:bodyPr wrap="square" rtlCol="0" anchor="ctr"/>
          <a:lstStyle/>
          <a:p>
            <a:pPr indent="0" marL="0">
              <a:buNone/>
            </a:pPr>
            <a:r>
              <a:rPr lang="en-US" sz="1800" b="1" dirty="0">
                <a:solidFill>
                  <a:srgbClr val="FFFFFF"/>
                </a:solidFill>
                <a:latin typeface="Arial" pitchFamily="34" charset="0"/>
                <a:ea typeface="Arial" pitchFamily="34" charset="-122"/>
                <a:cs typeface="Arial" pitchFamily="34" charset="-120"/>
              </a:rPr>
              <a:t>Demand, inventory, and OTIF risk by lot</a:t>
            </a:r>
            <a:endParaRPr lang="en-US" sz="1800" dirty="0"/>
          </a:p>
        </p:txBody>
      </p:sp>
      <p:sp>
        <p:nvSpPr>
          <p:cNvPr id="7" name="Text 5"/>
          <p:cNvSpPr/>
          <p:nvPr/>
        </p:nvSpPr>
        <p:spPr>
          <a:xfrm>
            <a:off x="457200" y="841248"/>
            <a:ext cx="3657600" cy="219456"/>
          </a:xfrm>
          <a:prstGeom prst="rect">
            <a:avLst/>
          </a:prstGeom>
          <a:noFill/>
          <a:ln/>
        </p:spPr>
        <p:txBody>
          <a:bodyPr wrap="square" rtlCol="0" anchor="ctr"/>
          <a:lstStyle/>
          <a:p>
            <a:pPr indent="0" marL="0">
              <a:buNone/>
            </a:pPr>
            <a:r>
              <a:rPr lang="en-US" sz="1100" dirty="0">
                <a:solidFill>
                  <a:srgbClr val="8EC8FF"/>
                </a:solidFill>
                <a:latin typeface="Helvetica" pitchFamily="34" charset="0"/>
                <a:ea typeface="Helvetica" pitchFamily="34" charset="-122"/>
                <a:cs typeface="Helvetica" pitchFamily="34" charset="-120"/>
              </a:rPr>
              <a:t>Use case 5 of 5</a:t>
            </a:r>
            <a:endParaRPr lang="en-US" sz="1100" dirty="0"/>
          </a:p>
        </p:txBody>
      </p:sp>
      <p:sp>
        <p:nvSpPr>
          <p:cNvPr id="8" name="Shape 6"/>
          <p:cNvSpPr/>
          <p:nvPr/>
        </p:nvSpPr>
        <p:spPr>
          <a:xfrm>
            <a:off x="457200" y="1170432"/>
            <a:ext cx="5509260" cy="2331720"/>
          </a:xfrm>
          <a:prstGeom prst="roundRect">
            <a:avLst>
              <a:gd name="adj" fmla="val 3137"/>
            </a:avLst>
          </a:prstGeom>
          <a:solidFill>
            <a:srgbClr val="0F2043"/>
          </a:solidFill>
          <a:ln w="12700">
            <a:solidFill>
              <a:srgbClr val="1D6EE4"/>
            </a:solidFill>
            <a:prstDash val="solid"/>
          </a:ln>
        </p:spPr>
      </p:sp>
      <p:sp>
        <p:nvSpPr>
          <p:cNvPr id="9" name="Text 7"/>
          <p:cNvSpPr/>
          <p:nvPr/>
        </p:nvSpPr>
        <p:spPr>
          <a:xfrm>
            <a:off x="676656"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PROBLEM</a:t>
            </a:r>
            <a:endParaRPr lang="en-US" sz="1000" dirty="0"/>
          </a:p>
        </p:txBody>
      </p:sp>
      <p:sp>
        <p:nvSpPr>
          <p:cNvPr id="10" name="Text 8"/>
          <p:cNvSpPr/>
          <p:nvPr/>
        </p:nvSpPr>
        <p:spPr>
          <a:xfrm>
            <a:off x="676656"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What is slowing them down</a:t>
            </a:r>
            <a:endParaRPr lang="en-US" sz="1300" dirty="0"/>
          </a:p>
        </p:txBody>
      </p:sp>
      <p:sp>
        <p:nvSpPr>
          <p:cNvPr id="11" name="Text 9"/>
          <p:cNvSpPr/>
          <p:nvPr/>
        </p:nvSpPr>
        <p:spPr>
          <a:xfrm>
            <a:off x="676656"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Professional and retail demand swings quickly. Without available-to-promise by lot, planners over-promise or carry excess finished goods, and heat exposure in transit is invisible.</a:t>
            </a:r>
            <a:endParaRPr lang="en-US" sz="1300" dirty="0"/>
          </a:p>
        </p:txBody>
      </p:sp>
      <p:sp>
        <p:nvSpPr>
          <p:cNvPr id="12" name="Shape 10"/>
          <p:cNvSpPr/>
          <p:nvPr/>
        </p:nvSpPr>
        <p:spPr>
          <a:xfrm>
            <a:off x="6222492" y="1170432"/>
            <a:ext cx="5509260" cy="2331720"/>
          </a:xfrm>
          <a:prstGeom prst="roundRect">
            <a:avLst>
              <a:gd name="adj" fmla="val 3137"/>
            </a:avLst>
          </a:prstGeom>
          <a:solidFill>
            <a:srgbClr val="0F2043"/>
          </a:solidFill>
          <a:ln w="12700">
            <a:solidFill>
              <a:srgbClr val="1D6EE4"/>
            </a:solidFill>
            <a:prstDash val="solid"/>
          </a:ln>
        </p:spPr>
      </p:sp>
      <p:sp>
        <p:nvSpPr>
          <p:cNvPr id="13" name="Text 11"/>
          <p:cNvSpPr/>
          <p:nvPr/>
        </p:nvSpPr>
        <p:spPr>
          <a:xfrm>
            <a:off x="6441948" y="1335024"/>
            <a:ext cx="5070348"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SOLUTION</a:t>
            </a:r>
            <a:endParaRPr lang="en-US" sz="1000" dirty="0"/>
          </a:p>
        </p:txBody>
      </p:sp>
      <p:sp>
        <p:nvSpPr>
          <p:cNvPr id="14" name="Text 12"/>
          <p:cNvSpPr/>
          <p:nvPr/>
        </p:nvSpPr>
        <p:spPr>
          <a:xfrm>
            <a:off x="6441948" y="1572768"/>
            <a:ext cx="5070348"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How Fabric and Foundry help</a:t>
            </a:r>
            <a:endParaRPr lang="en-US" sz="1300" dirty="0"/>
          </a:p>
        </p:txBody>
      </p:sp>
      <p:sp>
        <p:nvSpPr>
          <p:cNvPr id="15" name="Text 13"/>
          <p:cNvSpPr/>
          <p:nvPr/>
        </p:nvSpPr>
        <p:spPr>
          <a:xfrm>
            <a:off x="6441948" y="1901952"/>
            <a:ext cx="5070348"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OneLake unifies orders, holds, and warehouse stock so planners see fill-rate risk now, with a Foundry briefing for daily OTIF.</a:t>
            </a:r>
            <a:endParaRPr lang="en-US" sz="1300" dirty="0"/>
          </a:p>
        </p:txBody>
      </p:sp>
      <p:sp>
        <p:nvSpPr>
          <p:cNvPr id="16" name="Shape 14"/>
          <p:cNvSpPr/>
          <p:nvPr/>
        </p:nvSpPr>
        <p:spPr>
          <a:xfrm>
            <a:off x="457200" y="3657600"/>
            <a:ext cx="11274552" cy="2331720"/>
          </a:xfrm>
          <a:prstGeom prst="roundRect">
            <a:avLst>
              <a:gd name="adj" fmla="val 3137"/>
            </a:avLst>
          </a:prstGeom>
          <a:solidFill>
            <a:srgbClr val="0F2043"/>
          </a:solidFill>
          <a:ln w="12700">
            <a:solidFill>
              <a:srgbClr val="1D6EE4"/>
            </a:solidFill>
            <a:prstDash val="solid"/>
          </a:ln>
        </p:spPr>
      </p:sp>
      <p:sp>
        <p:nvSpPr>
          <p:cNvPr id="17" name="Text 15"/>
          <p:cNvSpPr/>
          <p:nvPr/>
        </p:nvSpPr>
        <p:spPr>
          <a:xfrm>
            <a:off x="676656" y="3822192"/>
            <a:ext cx="10835640" cy="201168"/>
          </a:xfrm>
          <a:prstGeom prst="rect">
            <a:avLst/>
          </a:prstGeom>
          <a:noFill/>
          <a:ln/>
        </p:spPr>
        <p:txBody>
          <a:bodyPr wrap="square" rtlCol="0" anchor="ctr"/>
          <a:lstStyle/>
          <a:p>
            <a:pPr indent="0" marL="0">
              <a:buNone/>
            </a:pPr>
            <a:r>
              <a:rPr lang="en-US" sz="1000" b="1" dirty="0">
                <a:solidFill>
                  <a:srgbClr val="E54A24"/>
                </a:solidFill>
                <a:latin typeface="Arial" pitchFamily="34" charset="0"/>
                <a:ea typeface="Arial" pitchFamily="34" charset="-122"/>
                <a:cs typeface="Arial" pitchFamily="34" charset="-120"/>
              </a:rPr>
              <a:t>LIKELY ALREADY EXISTS</a:t>
            </a:r>
            <a:endParaRPr lang="en-US" sz="1000" dirty="0"/>
          </a:p>
        </p:txBody>
      </p:sp>
      <p:sp>
        <p:nvSpPr>
          <p:cNvPr id="18" name="Text 16"/>
          <p:cNvSpPr/>
          <p:nvPr/>
        </p:nvSpPr>
        <p:spPr>
          <a:xfrm>
            <a:off x="676656" y="4059936"/>
            <a:ext cx="10835640" cy="292608"/>
          </a:xfrm>
          <a:prstGeom prst="rect">
            <a:avLst/>
          </a:prstGeom>
          <a:noFill/>
          <a:ln/>
        </p:spPr>
        <p:txBody>
          <a:bodyPr wrap="square" rtlCol="0" anchor="ctr"/>
          <a:lstStyle/>
          <a:p>
            <a:pPr indent="0" marL="0">
              <a:buNone/>
            </a:pPr>
            <a:r>
              <a:rPr lang="en-US" sz="1300" b="1" dirty="0">
                <a:solidFill>
                  <a:srgbClr val="8EC8FF"/>
                </a:solidFill>
                <a:latin typeface="Arial" pitchFamily="34" charset="0"/>
                <a:ea typeface="Arial" pitchFamily="34" charset="-122"/>
                <a:cs typeface="Arial" pitchFamily="34" charset="-120"/>
              </a:rPr>
              <a:t>Data and technology</a:t>
            </a:r>
            <a:endParaRPr lang="en-US" sz="1300" dirty="0"/>
          </a:p>
        </p:txBody>
      </p:sp>
      <p:sp>
        <p:nvSpPr>
          <p:cNvPr id="19" name="Text 17"/>
          <p:cNvSpPr/>
          <p:nvPr/>
        </p:nvSpPr>
        <p:spPr>
          <a:xfrm>
            <a:off x="676656" y="4389120"/>
            <a:ext cx="10835640" cy="1453896"/>
          </a:xfrm>
          <a:prstGeom prst="rect">
            <a:avLst/>
          </a:prstGeom>
          <a:noFill/>
          <a:ln/>
        </p:spPr>
        <p:txBody>
          <a:bodyPr wrap="square" rtlCol="0" anchor="t"/>
          <a:lstStyle/>
          <a:p>
            <a:pPr indent="0" marL="0">
              <a:buNone/>
            </a:pPr>
            <a:r>
              <a:rPr lang="en-US" sz="1300" dirty="0">
                <a:solidFill>
                  <a:srgbClr val="FFFFFF"/>
                </a:solidFill>
                <a:latin typeface="Helvetica" pitchFamily="34" charset="0"/>
                <a:ea typeface="Helvetica" pitchFamily="34" charset="-122"/>
                <a:cs typeface="Helvetica" pitchFamily="34" charset="-120"/>
              </a:rPr>
              <a:t>ERP orders, inventory, holds, shipment temperature logs Microsoft Fabric | OneLake | Azure AI Foundry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220"/>
          </a:solidFill>
          <a:ln w="12700">
            <a:solidFill>
              <a:srgbClr val="0B1220"/>
            </a:solidFill>
            <a:prstDash val="solid"/>
          </a:ln>
        </p:spPr>
      </p:sp>
      <p:sp>
        <p:nvSpPr>
          <p:cNvPr id="3" name="Shape 1"/>
          <p:cNvSpPr/>
          <p:nvPr/>
        </p:nvSpPr>
        <p:spPr>
          <a:xfrm>
            <a:off x="0" y="6263640"/>
            <a:ext cx="12188952" cy="594360"/>
          </a:xfrm>
          <a:prstGeom prst="rect">
            <a:avLst/>
          </a:prstGeom>
          <a:solidFill>
            <a:srgbClr val="172440"/>
          </a:solidFill>
          <a:ln w="12700">
            <a:solidFill>
              <a:srgbClr val="172440"/>
            </a:solidFill>
            <a:prstDash val="solid"/>
          </a:ln>
        </p:spPr>
      </p:sp>
      <p:sp>
        <p:nvSpPr>
          <p:cNvPr id="4" name="Shape 2"/>
          <p:cNvSpPr/>
          <p:nvPr/>
        </p:nvSpPr>
        <p:spPr>
          <a:xfrm>
            <a:off x="0" y="6236208"/>
            <a:ext cx="12188952" cy="54864"/>
          </a:xfrm>
          <a:prstGeom prst="rect">
            <a:avLst/>
          </a:prstGeom>
          <a:solidFill>
            <a:srgbClr val="E54A24"/>
          </a:solidFill>
          <a:ln w="12700">
            <a:solidFill>
              <a:srgbClr val="E54A24"/>
            </a:solidFill>
            <a:prstDash val="solid"/>
          </a:ln>
        </p:spPr>
      </p:sp>
      <p:sp>
        <p:nvSpPr>
          <p:cNvPr id="5" name="Text 3"/>
          <p:cNvSpPr/>
          <p:nvPr/>
        </p:nvSpPr>
        <p:spPr>
          <a:xfrm>
            <a:off x="10177272" y="6355080"/>
            <a:ext cx="1554480" cy="320040"/>
          </a:xfrm>
          <a:prstGeom prst="rect">
            <a:avLst/>
          </a:prstGeom>
          <a:noFill/>
          <a:ln/>
        </p:spPr>
        <p:txBody>
          <a:bodyPr wrap="square" rtlCol="0" anchor="ctr"/>
          <a:lstStyle/>
          <a:p>
            <a:pPr algn="r" indent="0" marL="0">
              <a:buNone/>
            </a:pPr>
            <a:r>
              <a:rPr lang="en-US" sz="1100" b="1" dirty="0">
                <a:solidFill>
                  <a:srgbClr val="FFFFFF"/>
                </a:solidFill>
                <a:latin typeface="Arial" pitchFamily="34" charset="0"/>
                <a:ea typeface="Arial" pitchFamily="34" charset="-122"/>
                <a:cs typeface="Arial" pitchFamily="34" charset="-120"/>
              </a:rPr>
              <a:t>APEXON</a:t>
            </a:r>
            <a:endParaRPr lang="en-US" sz="1100" dirty="0"/>
          </a:p>
        </p:txBody>
      </p:sp>
      <p:sp>
        <p:nvSpPr>
          <p:cNvPr id="6" name="Text 4"/>
          <p:cNvSpPr/>
          <p:nvPr/>
        </p:nvSpPr>
        <p:spPr>
          <a:xfrm>
            <a:off x="457200" y="2148840"/>
            <a:ext cx="11155680" cy="64008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Let's build this together</a:t>
            </a:r>
            <a:endParaRPr lang="en-US" sz="3200" dirty="0"/>
          </a:p>
        </p:txBody>
      </p:sp>
      <p:sp>
        <p:nvSpPr>
          <p:cNvPr id="7" name="Text 5"/>
          <p:cNvSpPr/>
          <p:nvPr/>
        </p:nvSpPr>
        <p:spPr>
          <a:xfrm>
            <a:off x="457200" y="2926080"/>
            <a:ext cx="10424160" cy="1051560"/>
          </a:xfrm>
          <a:prstGeom prst="rect">
            <a:avLst/>
          </a:prstGeom>
          <a:noFill/>
          <a:ln/>
        </p:spPr>
        <p:txBody>
          <a:bodyPr wrap="square" rtlCol="0" anchor="ctr"/>
          <a:lstStyle/>
          <a:p>
            <a:pPr indent="0" marL="0">
              <a:buNone/>
            </a:pPr>
            <a:r>
              <a:rPr lang="en-US" sz="1600" dirty="0">
                <a:solidFill>
                  <a:srgbClr val="8EC8FF"/>
                </a:solidFill>
                <a:latin typeface="Helvetica" pitchFamily="34" charset="0"/>
                <a:ea typeface="Helvetica" pitchFamily="34" charset="-122"/>
                <a:cs typeface="Helvetica" pitchFamily="34" charset="-120"/>
              </a:rPr>
              <a:t>An interactive HTML mockup for Guittard accompanies this deck. Open the GitHub Pages link to walk the top use cases with live, synthetic data.</a:t>
            </a:r>
            <a:endParaRPr lang="en-US" sz="1600" dirty="0"/>
          </a:p>
        </p:txBody>
      </p:sp>
      <p:sp>
        <p:nvSpPr>
          <p:cNvPr id="8" name="Text 6"/>
          <p:cNvSpPr/>
          <p:nvPr/>
        </p:nvSpPr>
        <p:spPr>
          <a:xfrm>
            <a:off x="457200" y="5669280"/>
            <a:ext cx="9144000" cy="274320"/>
          </a:xfrm>
          <a:prstGeom prst="rect">
            <a:avLst/>
          </a:prstGeom>
          <a:noFill/>
          <a:ln/>
        </p:spPr>
        <p:txBody>
          <a:bodyPr wrap="square" rtlCol="0" anchor="ctr"/>
          <a:lstStyle/>
          <a:p>
            <a:pPr indent="0" marL="0">
              <a:buNone/>
            </a:pPr>
            <a:r>
              <a:rPr lang="en-US" sz="1200" dirty="0">
                <a:solidFill>
                  <a:srgbClr val="9AA6B8"/>
                </a:solidFill>
                <a:latin typeface="Helvetica" pitchFamily="34" charset="0"/>
                <a:ea typeface="Helvetica" pitchFamily="34" charset="-122"/>
                <a:cs typeface="Helvetica" pitchFamily="34" charset="-120"/>
              </a:rPr>
              <a:t>Apexon  |  Azure AI Foundry  |  Microsoft Fabric  |  Harness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Guittard - Food and Beverage Manufacturing Solutioning Pitch</dc:title>
  <dc:subject>Apexon Harness-governed Microsoft Fabric pitch</dc:subject>
  <dc:creator>Apexon</dc:creator>
  <cp:lastModifiedBy>Apexon</cp:lastModifiedBy>
  <cp:revision>1</cp:revision>
  <dcterms:created xsi:type="dcterms:W3CDTF">2026-08-17T12:46:59Z</dcterms:created>
  <dcterms:modified xsi:type="dcterms:W3CDTF">2026-08-17T12:46:59Z</dcterms:modified>
</cp:coreProperties>
</file>